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kyline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7950"/>
            <a:ext cx="9144000" cy="400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</a:rPr>
              <a:t>DATASCI 347 ·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E3A5F"/>
                </a:solidFill>
              </a:rPr>
              <a:t>NYC Airbnb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423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59E0B"/>
                </a:solidFill>
              </a:rPr>
              <a:t>Price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</a:rPr>
              <a:t>Predicting nightly rental prices across New York City
using machine learning and listing 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3794760"/>
            <a:ext cx="21945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97763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</a:rPr>
              <a:t>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397763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</a:rPr>
              <a:t>NLP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97763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</a:rPr>
              <a:t>5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97763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</a:rPr>
              <a:t>48,870 Listings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34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</a:rPr>
              <a:t>Yang Lyu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4434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</a:rPr>
              <a:t>Yan Tian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434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</a:rPr>
              <a:t>Lucy Liu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4434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</a:rPr>
              <a:t>Leo Xu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April 27,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kyline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7950"/>
            <a:ext cx="9144000" cy="400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3A5F"/>
                </a:solidFill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6576" cy="3291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What are we solving?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Predict nightly price of an NYC Airbnb listing from its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19072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Target: log(price), reduces right-skew from 19.1 to 0.6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56816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Supervised regression: R², RMSE (log), MAE ($)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194560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80/20 train/test split, random seed 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1188720"/>
            <a:ext cx="36576" cy="3291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8416" y="1188720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Why does it matter?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8416" y="1481328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Hosts need pricing guidance: underpricing loses revenue, overpricing loses bookings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8416" y="1719072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Travelers assess whether a listing is fairly priced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8416" y="1956816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48,000+ active listings; even $5 accuracy improvement has large aggregate impact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0176" y="1188720"/>
            <a:ext cx="36576" cy="3291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9904" y="1188720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Broader use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9904" y="1481328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Dynamic pricing platforms: automate host price suggestions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9904" y="1719072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Real estate valuation: short-term rental income estimation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9904" y="1956816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Market analysis: track neighbourhood price trends over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663440"/>
            <a:ext cx="4572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66344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Core question: which features actually drive Airbnb prices, and does more model complexity help?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kyline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7950"/>
            <a:ext cx="9144000" cy="400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3A5F"/>
                </a:solidFill>
              </a:rPr>
              <a:t>PRIOR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</a:rPr>
              <a:t>How Has This Been Solved Before?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6576" cy="3291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Existing approaches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Kaggle baselines use OLS or single RF with numeric features only (R² ≈ 0.50–0.58)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19072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221-neighbourhood high-cardinality problem rarely addressed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56816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Text features almost always discarded entirely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194560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No complexity ladder: models compared in isolation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1188720"/>
            <a:ext cx="36576" cy="3291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8416" y="1188720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How our approach differs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8416" y="1481328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Smoothed target encoding collapses 221 neighbourhoods into 1 feature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8416" y="1719072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TF-IDF + PCA on listing names extracts 128 latent text 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8416" y="1956816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12 keyword flags capture semantic descriptors (luxury, studio, cozy...)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8416" y="2194560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Complexity ladder across 5 models isolates each design choice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0176" y="1188720"/>
            <a:ext cx="36576" cy="3291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9904" y="1188720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What we gain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9904" y="1481328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Our linear model (R² = 0.595) already exceeds typical published baselines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9904" y="1719072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XGBoost (R² = 0.656) pushes further via sequential residual correction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9904" y="1956816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Feature importance analysis reveals WHY models predict, not just how well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9904" y="2194560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End-to-end reproducible pipeline: fixed seeds, modular notebooks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63440"/>
            <a:ext cx="4572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66344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Prior work leaves signal on the table by ignoring text and neighbourhood structure. Our pipeline directly addresses both.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kyline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7950"/>
            <a:ext cx="9144000" cy="400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3A5F"/>
                </a:solidFill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</a:rPr>
              <a:t>Dataset: NYC Airbnb 2019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55448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5272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3A5F"/>
                </a:solidFill>
              </a:rPr>
              <a:t>48,870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Listings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1188720"/>
            <a:ext cx="155448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125272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3A5F"/>
                </a:solidFill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6916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NYC Boroughs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188720"/>
            <a:ext cx="155448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25272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3A5F"/>
                </a:solidFill>
              </a:rPr>
              <a:t>221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6916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Unique Neighbourhoods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1188720"/>
            <a:ext cx="155448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125272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3A5F"/>
                </a:solidFill>
              </a:rPr>
              <a:t>$106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6916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Median Price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1188720"/>
            <a:ext cx="155448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125272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3A5F"/>
                </a:solidFill>
              </a:rPr>
              <a:t>$152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16916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Mean Price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31720"/>
            <a:ext cx="36576" cy="2560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331720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Cleaning decisions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624328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Removed 11 listings with price = $0 (invalid)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2862072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Removed 14 with min nights &gt; 365 (not real rentals)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099816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reviews_per_month filled with 0 when number_of_reviews = 0 (MNAR)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337560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Extreme prices retained; real luxury listings, not errors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18688" y="2331720"/>
            <a:ext cx="36576" cy="2560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28416" y="2331720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Why log-transform price?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28416" y="2624328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Raw price skewness = 19.1 (extremely right-skewed)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8416" y="2862072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After log: skewness = 0.6 (near-normal)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28416" y="3099816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Mean ≈ $152 but median ≈ $106: luxury listings pull mean 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8416" y="3337560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OLS normality assumption approximately satisfied after transform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0176" y="2331720"/>
            <a:ext cx="36576" cy="2560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9904" y="2331720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Room type breakdown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9904" y="2624328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Entire home/apt: 52% of listings, highest prices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9904" y="2862072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Private room: 46%, moderate prices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9904" y="3099816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Shared room: 2%, lowest prices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9904" y="3337560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Room type is the single strongest price predictor</a:t>
            </a:r>
          </a:p>
        </p:txBody>
      </p:sp>
      <p:pic>
        <p:nvPicPr>
          <p:cNvPr id="39" name="Picture 38" descr="fig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4983480"/>
            <a:ext cx="45720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kyline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7950"/>
            <a:ext cx="9144000" cy="400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3A5F"/>
                </a:solidFill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</a:rPr>
              <a:t>Geographic Distribution of Listings</a:t>
            </a:r>
          </a:p>
        </p:txBody>
      </p:sp>
      <p:pic>
        <p:nvPicPr>
          <p:cNvPr id="6" name="Picture 5" descr="fig_geo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8229600" cy="3200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4480560"/>
            <a:ext cx="36576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480560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Manhattan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773168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Densest cluster, highest prices (log_price 5.0–6.0)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10912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Strong east-west price gradient captured by longitude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4480560"/>
            <a:ext cx="36576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8416" y="4480560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Brooklyn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8416" y="4773168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Second largest cluster, moderate prices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8416" y="5010912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Williamsburg and DUMBO command near-Manhattan premiums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0176" y="4480560"/>
            <a:ext cx="36576" cy="1645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9904" y="4480560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Outer Boroughs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904" y="4773168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Queens, Bronx, Staten Island: sparser listings, lower prices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5010912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Latitude + longitude together explain ~6% of model variance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kyline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7950"/>
            <a:ext cx="9144000" cy="400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3A5F"/>
                </a:solidFill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</a:rPr>
              <a:t>Price by Room Type and Borough</a:t>
            </a:r>
          </a:p>
        </p:txBody>
      </p:sp>
      <p:pic>
        <p:nvPicPr>
          <p:cNvPr id="6" name="Picture 5" descr="fig_categorical_box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8229600" cy="3383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4663440"/>
            <a:ext cx="36576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663440"/>
            <a:ext cx="3822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Room type signal (KW p &lt; 0.001)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956048"/>
            <a:ext cx="3822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Entire home: median ~$150  |  Private room: ~$70  |  Shared: ~$45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193792"/>
            <a:ext cx="3822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Room type becomes the #1 predictor in every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4663440"/>
            <a:ext cx="36576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4663440"/>
            <a:ext cx="3822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Borough signal (KW p &lt; 0.001)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4956048"/>
            <a:ext cx="3822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Manhattan median significantly above all other boroughs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5193792"/>
            <a:ext cx="3822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Bronx and Staten Island are the lowest-priced markets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kyline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7950"/>
            <a:ext cx="9144000" cy="400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3A5F"/>
                </a:solidFill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</a:rPr>
              <a:t>Pipeline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554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5F"/>
                </a:solidFill>
              </a:rPr>
              <a:t>EDA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Clean · Visualise · Log-transform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29968" y="1234440"/>
            <a:ext cx="1554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29968" y="1280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5F"/>
                </a:solidFill>
              </a:rPr>
              <a:t>Text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1554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TF-IDF · PCA · 12 Keywords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141732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85616" y="1234440"/>
            <a:ext cx="1554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5616" y="1280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5F"/>
                </a:solidFill>
              </a:rPr>
              <a:t>Feature Eng.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5616" y="1554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One-hot · Target Enc. ·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141732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41264" y="1234440"/>
            <a:ext cx="1554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41264" y="1280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5F"/>
                </a:solidFill>
              </a:rPr>
              <a:t>Modelling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1264" y="1554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5 Models · 3-fold CV Tuning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5744" y="141732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1234440"/>
            <a:ext cx="1554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280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5F"/>
                </a:solidFill>
              </a:rPr>
              <a:t>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6912" y="1554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R² · RMSE · MAE · Importance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194560"/>
            <a:ext cx="36576" cy="2743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2194560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Structured features (7+)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2487168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Latitude, longitude (geographic signal)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724912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Room type → 2 one-hot dummies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962656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Borough → 4 one-hot dummies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200400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Availability, min nights, review counts, host listing count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18688" y="2194560"/>
            <a:ext cx="36576" cy="27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28416" y="2194560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Neighbourhood encoding (1)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28416" y="2487168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221 unique levels → 1 column via smoothed target encoding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28416" y="2724912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Smoothing λ = 20 shrinks rare levels toward global mean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28416" y="2962656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Encodes mean log_price per neighbourhood on training data only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0176" y="2194560"/>
            <a:ext cx="36576" cy="2743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2194560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Text features (142)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9904" y="2487168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12 binary keyword flags (luxury, cozy, studio, loft...)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9904" y="2724912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Bedroom count extracted via regex, imputed at median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9904" y="2962656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TF-IDF (200 terms, bigrams) + PCA → 128 components (80% var.)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9904" y="3200400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156 total features entering the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kyline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7950"/>
            <a:ext cx="9144000" cy="400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3A5F"/>
                </a:solidFill>
              </a:rPr>
              <a:t>NOVELTY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</a:rPr>
              <a:t>High-Cardinality Neighbourhood Encoding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221 unique neighbourhoods: how do we encode them without losing signal or exploding dimensionality?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6576" cy="2560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One-hot (220 cols)  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47088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Rare neighbourhoods (Fort Wadsworth, n=1) get unstable coefficients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84832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Massive sparse feature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322576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Multicollinearity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1554480"/>
            <a:ext cx="36576" cy="2560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8416" y="1554480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Target Encoding  ✓  Our choice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8416" y="1847088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Single column: smoothed mean of log_price per neighbourhood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8416" y="2084832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Rare levels pulled toward global mean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8416" y="2322576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Tribeca: 5.59  ·  Corona: 4.12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0176" y="1554480"/>
            <a:ext cx="36576" cy="25603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9904" y="1554480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</a:rPr>
              <a:t>Drop column  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9904" y="1847088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Throws away real price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9904" y="2084832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Williamsburg ≠ Bushwick in pricing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9904" y="2322576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Not a real option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251960"/>
            <a:ext cx="73152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25196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3A5F"/>
                </a:solidFill>
              </a:rPr>
              <a:t>enc(c)  =  ( n_c · ȳ_c  +  20 · ȳ )  /  ( n_c  +  20 )        smoothing λ = 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983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Encoded on training data only — no leakage to test 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kyline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7950"/>
            <a:ext cx="9144000" cy="400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3A5F"/>
                </a:solidFill>
              </a:rPr>
              <a:t>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</a:rPr>
              <a:t>Five Models: Increasing Complexity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82296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563EB"/>
                </a:solidFill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34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Linear Regression (OLS)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2344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Reference point, no regularisation. Features standardised (StandardScaler).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82296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D9488"/>
                </a:solidFill>
              </a:rPr>
              <a:t>Regularised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6916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Ridge (L2)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6916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Shrinks all coefficients smoothly. α = 48.33 selected via 3-fold CV on training set.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82296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14884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D9488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148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Lasso (L1)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148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Zeros out irrelevant features. α = 0.00044 via 3-fold CV. 148/156 features retained.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17520"/>
            <a:ext cx="82296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60604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A580C"/>
                </a:solidFill>
              </a:rPr>
              <a:t>Non-linear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2606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Random Forest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606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200 trees. min_samples_leaf = 5. max_features = sqrt(p). Unscaled features.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74720"/>
            <a:ext cx="82296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06324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59E0B"/>
                </a:solidFill>
              </a:rPr>
              <a:t>Boosting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063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XGBoost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063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lr = 0.05. max_depth = 5. subsample = 0.8. n_trees = 328 via early stopping on 15% hold-out.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840480"/>
            <a:ext cx="4572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840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Why not SVM or neural networks? SVMs scale poorly to n=39k with 156 features (O(n²) kernel). Neural networks require more data and careful tuning for marginal gain on structured tabular problems. These five models efficiently span the bias-variance trade-off.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kyline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7950"/>
            <a:ext cx="9144000" cy="400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3A5F"/>
                </a:solidFill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</a:rPr>
              <a:t>Model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Test set · 9,774 listings · 80/20 split · random seed 42 · macOS, Python 3.11, scikit-learn 1.4, xgboost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463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R²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4630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RMSE (log)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463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MAE ($)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463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Notes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37360"/>
            <a:ext cx="8229600" cy="1828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288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Linear 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182880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0.5954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182880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0.4443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8288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$56.84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18288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Reference 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21408"/>
            <a:ext cx="82296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7627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Ridge  (α = 48.33)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1762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0.5954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17627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0.4443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17627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$56.84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217627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Identical to OLS — n ≫ 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468880"/>
            <a:ext cx="82296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52374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Lasso  (α = 0.00044)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2523744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0.5956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252374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0.4442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252374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$56.83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252374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148/156 features kept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816352"/>
            <a:ext cx="82296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87121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Random Forest (200 trees)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287121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0.5879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2871216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0.4483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87121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$56.96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2871216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Slightly below linear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163824"/>
            <a:ext cx="82296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21868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XGBoost (328 trees)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321868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0.6559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32186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0.4097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321868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$52.91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0" y="321868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Best model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511296"/>
            <a:ext cx="82296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3749039"/>
            <a:ext cx="36576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3749039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R² interpretation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4041647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Proportion of price variance explained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4279391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R² = 0.656 means XGBoost explains 65.6% of price variation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4517135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Remaining 34% driven by unmeasured factors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18688" y="3749039"/>
            <a:ext cx="36576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28416" y="3749039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MAE interpretation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28416" y="4041647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Mean absolute error in dollar space after exp-transforming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28416" y="4279391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XGBoost: typical prediction off by $52.91 on a $152 mean listing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28416" y="4517135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Prefer MAE over RMSE: robust to $1,000+ luxury outliers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80176" y="3749039"/>
            <a:ext cx="36576" cy="1920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89904" y="3749039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Key observation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89904" y="4041647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Linear models all converge within 0.01% R² of each other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89904" y="4279391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XGBoost gains +6% R² over linear — the only meaningful jump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9904" y="4517135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Performance ceiling is the data, not the algorithm choice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kyline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7950"/>
            <a:ext cx="9144000" cy="400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3A5F"/>
                </a:solidFill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</a:rPr>
              <a:t>Predicted vs Actual: All 5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Points on the diagonal = perfect predictions. Scatter below the line at high prices reveals the luxury under-prediction problem.</a:t>
            </a:r>
          </a:p>
        </p:txBody>
      </p:sp>
      <p:pic>
        <p:nvPicPr>
          <p:cNvPr id="7" name="Picture 6" descr="fig_pred_vs_ac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82296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kyline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7950"/>
            <a:ext cx="9144000" cy="400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3A5F"/>
                </a:solidFill>
              </a:rPr>
              <a:t>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</a:rPr>
              <a:t>What Drives Airbnb Prices?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6576" cy="3291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Linear model (Ridge coefficients)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Room: Private: strongest negative, coef = −0.32 (~27% less than entire homes)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19072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Neighbourhood target-encoded signal: +0.22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56816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Borough: Manhattan: +0.11 vs. Bronx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194560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Bedroom Count: +0.08 per extra bedroom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Keyword: Studio: −0.07 (negatively priced signal)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18688" y="1188720"/>
            <a:ext cx="36576" cy="3291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28416" y="1188720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Tree models (feature importance)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8416" y="1481328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Room: Private: 16–38% of model decisions across RF and XGBoost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8416" y="1719072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Neighbourhood: 5–8% (Tribeca vs. Corona = 1.5x price difference)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8416" y="1956816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Longitude: 5.9% in RF — captures Manhattan east-west gradient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8416" y="2194560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Top 5 features account for ~35% of RF decisions combined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0176" y="1188720"/>
            <a:ext cx="36576" cy="3291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9904" y="1188720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Text feature contribution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9904" y="1481328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TF-IDF PCs and keyword flags appear in RF and XGBoost top-15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9904" y="1719072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kw_studio: consistent negative price signal across all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9904" y="1956816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kw_luxury: small positive signal (+0.04 in Ridge)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9904" y="2194560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Text adds marginal but real signal: removing drops R² by ~0.5%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663440"/>
            <a:ext cx="4572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66344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Two completely different algorithm families agree: room type and neighbourhood dominate NYC pricing.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kyline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7950"/>
            <a:ext cx="9144000" cy="400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3A5F"/>
                </a:solidFill>
              </a:rPr>
              <a:t>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</a:rPr>
              <a:t>Feature Importance: Ridge vs RF vs XGBoost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B7280"/>
                </a:solidFill>
              </a:rPr>
              <a:t>Ridge: Top Coefficients</a:t>
            </a:r>
          </a:p>
        </p:txBody>
      </p:sp>
      <p:pic>
        <p:nvPicPr>
          <p:cNvPr id="7" name="Picture 6" descr="fig_ridge_coef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411480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63440" y="1170432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B7280"/>
                </a:solidFill>
              </a:rPr>
              <a:t>Random Forest: Gini Importance (top 15)</a:t>
            </a:r>
          </a:p>
        </p:txBody>
      </p:sp>
      <p:pic>
        <p:nvPicPr>
          <p:cNvPr id="9" name="Picture 8" descr="fig_rf_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371600"/>
            <a:ext cx="402336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14600" y="3749039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B7280"/>
                </a:solidFill>
              </a:rPr>
              <a:t>XGBoost: Gain Importance (top 15)</a:t>
            </a:r>
          </a:p>
        </p:txBody>
      </p:sp>
      <p:pic>
        <p:nvPicPr>
          <p:cNvPr id="11" name="Picture 10" descr="fig_xgb_import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3959352"/>
            <a:ext cx="41148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kyline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7950"/>
            <a:ext cx="9144000" cy="400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3A5F"/>
                </a:solidFill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</a:rPr>
              <a:t>Why Did the Models Converge?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36576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34440"/>
            <a:ext cx="4005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Why regularisation did not help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27048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n = 39k &gt;&gt; p = 156, so OLS is already well-conditioned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64792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PCA on TF-IDF removed collinearity before modelling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02536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Lasso barely penalised (α ≈ 0.00044, kept 148/156 features)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36576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697480"/>
            <a:ext cx="4005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Why RF scored slightly lower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990088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Log-transform already linearised the main price 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227832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128 sparse TF-IDF PCs favour linear models over trees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86200"/>
            <a:ext cx="36576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886200"/>
            <a:ext cx="4005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Comparison to published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178808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Typical Kaggle baselines on this dataset: R² ≈ 0.50–0.58 (numeric features only)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416552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Our linear model (R² = 0.595) already beats most published baselines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654296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XGBoost (R² = 0.656) is competitive with best reported results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1234440"/>
            <a:ext cx="36576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64608" y="1234440"/>
            <a:ext cx="3822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Limitations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8" y="1527048"/>
            <a:ext cx="3822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~40% of price variance is unmeasured (photos, amenities, host quality)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8" y="1764792"/>
            <a:ext cx="3822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Spatial autocorrelation present but not explicitly modelled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2002536"/>
            <a:ext cx="3822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Luxury listings ($1,000+) systematically under-predicted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274320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B7280"/>
                </a:solidFill>
              </a:rPr>
              <a:t>Residuals: Ridge, RF, XGBoost</a:t>
            </a:r>
          </a:p>
        </p:txBody>
      </p:sp>
      <p:pic>
        <p:nvPicPr>
          <p:cNvPr id="26" name="Picture 25" descr="fig_residu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971800"/>
            <a:ext cx="393192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kyline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7950"/>
            <a:ext cx="9144000" cy="400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3A5F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</a:rP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6576" cy="3200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What we did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End-to-end ML pipeline on 48,870 NYC Airbnb listings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19072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Engineered 142 text features from listing names (TF-IDF + PCA + keywords)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56816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Compared 5 models across a complexity ladder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194560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Smoothed target encoding for 221 neighbourhood levels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Best result: XGBoost R² = 0.656, MAE = $52.91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18688" y="1188720"/>
            <a:ext cx="36576" cy="3200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28416" y="1188720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Key takeaways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8416" y="1481328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Room type is the single most powerful predictor across all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8416" y="1719072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More model complexity does not guarantee better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8416" y="1956816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Data ceiling (R² ≈ 0.60 for linear models) is a feature limitation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8416" y="2194560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Target encoding outperforms one-hot for high-cardinality categoricals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28416" y="2432304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XGBoost breaks through the ceiling: R² = 0.656 via boosting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0176" y="1188720"/>
            <a:ext cx="36576" cy="3200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9904" y="1188720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Future directions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9904" y="1481328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Add photo quality scores via computer 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9904" y="1719072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Incorporate amenities list (WiFi, kitchen, parking)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9904" y="1956816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Model spatial autocorrelation explicitly (geographically weighted regression)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9904" y="2194560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Temporal features: day-of-week, seasonality, proximity to events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572000"/>
            <a:ext cx="4572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57200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Predicting Airbnb prices in NYC is fundamentally a feature quality problem, not a modelling problem.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kyline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7950"/>
            <a:ext cx="9144000" cy="400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3A5F"/>
                </a:solidFill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</a:rPr>
              <a:t>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6576" cy="4114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Dataset &amp;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Dgomonov (2019). New York City Airbnb Open Data. Kaggle.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19072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Pedregosa et al. (2011). Scikit-learn: Machine Learning in Python. JMLR 12, 2825–2830.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56816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Chen &amp; Guestrin (2016). XGBoost: A Scalable Tree Boosting System. KDD '16, 785–794.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188720"/>
            <a:ext cx="36576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8416" y="1188720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Statistical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8416" y="1481328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Micci-Barreca (2001). A preprocessing scheme for high-cardinality categorical attributes. ACM SIGKDD 3(1), 27–32.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8416" y="1719072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Breiman (2001). Random Forests. Machine Learning 45, 5–32.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8416" y="1956816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Tibshirani (1996). Regression Shrinkage and Selection via the Lasso. JRSS-B 58(1), 267–288.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8416" y="2194560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Hoerl &amp; Kennard (1970). Ridge Regression. Technometrics 12(1), 55–67.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0176" y="1188720"/>
            <a:ext cx="36576" cy="4114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9904" y="1188720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Text &amp; NLP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9904" y="1481328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Salton &amp; Buckley (1988). Term-weighting approaches in automatic text retrieval. IPM 24(5), 513–523.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9904" y="1719072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Jolliffe (2002). Principal Component Analysis. Springer.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9904" y="1956816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▸  Airbnb Research (2015). Aerosolve: Machine Learning for People. Airbnb Engineering Blog.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kyline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7950"/>
            <a:ext cx="9144000" cy="400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E3A5F"/>
                </a:solidFill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E3A5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651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</a:rPr>
              <a:t>We are happy to take questions.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3200400"/>
            <a:ext cx="21945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520440"/>
            <a:ext cx="182880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844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B7280"/>
                </a:solidFill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5F"/>
                </a:solidFill>
              </a:rPr>
              <a:t>48,870 NYC listings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3520440"/>
            <a:ext cx="182880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35844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B7280"/>
                </a:solidFill>
              </a:rPr>
              <a:t>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794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5F"/>
                </a:solidFill>
              </a:rPr>
              <a:t>Linear · Ridge · Lasso · RF · XGBoost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3520440"/>
            <a:ext cx="182880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35844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B7280"/>
                </a:solidFill>
              </a:rPr>
              <a:t>Best R²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794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5F"/>
                </a:solidFill>
              </a:rPr>
              <a:t>0.656 (XGBoost)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3520440"/>
            <a:ext cx="182880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5844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B7280"/>
                </a:solidFill>
              </a:rPr>
              <a:t>Top predictor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794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5F"/>
                </a:solidFill>
              </a:rPr>
              <a:t>Room type (Private vs Entire)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